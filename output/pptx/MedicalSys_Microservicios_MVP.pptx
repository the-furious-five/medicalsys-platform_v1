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b470a55f334ba0" /><Relationship Type="http://schemas.openxmlformats.org/officeDocument/2006/relationships/extended-properties" Target="/docProps/app.xml" Id="R50e5742630c042ba" /><Relationship Type="http://schemas.openxmlformats.org/officeDocument/2006/relationships/officeDocument" Target="/ppt/presentation.xml" Id="Rbd4c36ff215140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3e604ad6f34d97"/>
  </p:sldMasterIdLst>
  <p:notesMasterIdLst>
    <p:notesMasterId xmlns:r="http://schemas.openxmlformats.org/officeDocument/2006/relationships" r:id="R466f812588b14761"/>
  </p:notesMasterIdLst>
  <p:sldIdLst>
    <p:sldId xmlns:r="http://schemas.openxmlformats.org/officeDocument/2006/relationships" id="256" r:id="R24f8201bef4b4207"/>
    <p:sldId xmlns:r="http://schemas.openxmlformats.org/officeDocument/2006/relationships" id="257" r:id="Rd3335828275c4c63"/>
    <p:sldId xmlns:r="http://schemas.openxmlformats.org/officeDocument/2006/relationships" id="258" r:id="R0e11cc0dc9944402"/>
    <p:sldId xmlns:r="http://schemas.openxmlformats.org/officeDocument/2006/relationships" id="259" r:id="Ra2bad2d342a64d4d"/>
    <p:sldId xmlns:r="http://schemas.openxmlformats.org/officeDocument/2006/relationships" id="260" r:id="R9b4225c3c1e84e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588850e78446f3" /><Relationship Type="http://schemas.openxmlformats.org/officeDocument/2006/relationships/slideMaster" Target="/ppt/slideMasters/slideMaster1.xml" Id="Rd03e604ad6f34d97" /><Relationship Type="http://schemas.openxmlformats.org/officeDocument/2006/relationships/notesMaster" Target="/ppt/notesMasters/notesMaster1.xml" Id="R466f812588b14761" /><Relationship Type="http://schemas.openxmlformats.org/officeDocument/2006/relationships/presProps" Target="/ppt/presProps.xml" Id="R477f859b8c9e44b5" /><Relationship Type="http://schemas.openxmlformats.org/officeDocument/2006/relationships/tableStyles" Target="/ppt/tableStyles.xml" Id="Rb5ec24562ec84b5b" /><Relationship Type="http://schemas.openxmlformats.org/officeDocument/2006/relationships/slide" Target="/ppt/slides/slide1.xml" Id="R24f8201bef4b4207" /><Relationship Type="http://schemas.openxmlformats.org/officeDocument/2006/relationships/slide" Target="/ppt/slides/slide2.xml" Id="Rd3335828275c4c63" /><Relationship Type="http://schemas.openxmlformats.org/officeDocument/2006/relationships/slide" Target="/ppt/slides/slide3.xml" Id="R0e11cc0dc9944402" /><Relationship Type="http://schemas.openxmlformats.org/officeDocument/2006/relationships/slide" Target="/ppt/slides/slide4.xml" Id="Ra2bad2d342a64d4d" /><Relationship Type="http://schemas.openxmlformats.org/officeDocument/2006/relationships/slide" Target="/ppt/slides/slide5.xml" Id="R9b4225c3c1e84e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636ea9630148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edicalSys">
      <a:dk1>
        <a:srgbClr val="000000"/>
      </a:dk1>
      <a:lt1>
        <a:srgbClr val="FFFFFF"/>
      </a:lt1>
      <a:dk2>
        <a:srgbClr val="111318"/>
      </a:dk2>
      <a:lt2>
        <a:srgbClr val="EAF3FF"/>
      </a:lt2>
      <a:accent1>
        <a:srgbClr val="3E86B8"/>
      </a:accent1>
      <a:accent2>
        <a:srgbClr val="2D73AA"/>
      </a:accent2>
      <a:accent3>
        <a:srgbClr val="2B9B74"/>
      </a:accent3>
      <a:accent4>
        <a:srgbClr val="D95C5C"/>
      </a:accent4>
      <a:accent5>
        <a:srgbClr val="8A63D2"/>
      </a:accent5>
      <a:accent6>
        <a:srgbClr val="D99A3E"/>
      </a:accent6>
      <a:hlink>
        <a:srgbClr val="2D73AA"/>
      </a:hlink>
      <a:folHlink>
        <a:srgbClr val="8A63D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edicalSy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8cf677bc31408d" /><Relationship Type="http://schemas.openxmlformats.org/officeDocument/2006/relationships/notesMaster" Target="/ppt/notesMasters/notesMaster1.xml" Id="R46d3ab4971ea43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c4b9c8d1a54425" /><Relationship Type="http://schemas.openxmlformats.org/officeDocument/2006/relationships/notesMaster" Target="/ppt/notesMasters/notesMaster1.xml" Id="Rf8a9417d9cb749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23aac0a8754cf6" /><Relationship Type="http://schemas.openxmlformats.org/officeDocument/2006/relationships/notesMaster" Target="/ppt/notesMasters/notesMaster1.xml" Id="R00dee2ac22f444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7194d93df8481f" /><Relationship Type="http://schemas.openxmlformats.org/officeDocument/2006/relationships/notesMaster" Target="/ppt/notesMasters/notesMaster1.xml" Id="Rddf9be2d919a45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d0bae6bcee4001" /><Relationship Type="http://schemas.openxmlformats.org/officeDocument/2006/relationships/notesMaster" Target="/ppt/notesMasters/notesMaster1.xml" Id="R6fb51191771c45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Guion breve: presentar primero la responsabilidad del servicio; luego explicar el flujo visual y cerrar con la evidencia de funcionamiento.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services/ms-pacientes/docs/contracts.md</a:t>
            </a:r>
          </a:p>
          <a:p xmlns:a="http://schemas.openxmlformats.org/drawingml/2006/main">
            <a:r>
              <a:t>- services/ms-pacientes/src/main/java/com/medicalsys/pacientes/api/PatientController.java</a:t>
            </a:r>
          </a:p>
          <a:p xmlns:a="http://schemas.openxmlformats.org/drawingml/2006/main">
            <a:r>
              <a:t>- services/ms-pacientes/src/main/java/com/medicalsys/pacientes/service/PatientService.java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Guion breve: presentar primero la responsabilidad del servicio; luego explicar el flujo visual y cerrar con la evidencia de funcionamiento.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services/ms-pacientes/docs/contracts.md</a:t>
            </a:r>
          </a:p>
          <a:p xmlns:a="http://schemas.openxmlformats.org/drawingml/2006/main">
            <a:r>
              <a:t>- services/ms-pacientes/src/main/resources/db/migration/V1__create_schema.sql</a:t>
            </a:r>
          </a:p>
          <a:p xmlns:a="http://schemas.openxmlformats.org/drawingml/2006/main">
            <a:r>
              <a:t>- compose.yaml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Guion breve: presentar primero la responsabilidad del servicio; luego explicar el flujo visual y cerrar con la evidencia de funcionamiento.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services/ms-documental/docs/contracts.md</a:t>
            </a:r>
          </a:p>
          <a:p xmlns:a="http://schemas.openxmlformats.org/drawingml/2006/main">
            <a:r>
              <a:t>- services/ms-documental/src/main/java/com/medicalsys/documental/api/DocumentsController.java</a:t>
            </a:r>
          </a:p>
          <a:p xmlns:a="http://schemas.openxmlformats.org/drawingml/2006/main">
            <a:r>
              <a:t>- services/ms-documental/src/main/java/com/medicalsys/documental/service/DocumentService.java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Guion breve: presentar primero la responsabilidad del servicio; luego explicar el flujo visual y cerrar con la evidencia de funcionamiento.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services/ms-documental/src/main/resources/db/migration/V1__create_schema.sql</a:t>
            </a:r>
          </a:p>
          <a:p xmlns:a="http://schemas.openxmlformats.org/drawingml/2006/main">
            <a:r>
              <a:t>- services/ms-documental/src/main/java/com/medicalsys/documental/service/DocumentService.java</a:t>
            </a:r>
          </a:p>
          <a:p xmlns:a="http://schemas.openxmlformats.org/drawingml/2006/main">
            <a:r>
              <a:t>- Verificación local del MVP realizada el 25 de agosto de 2026: archivo de 141 bytes y SHA-256 coincidente.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Guion breve: presentar primero la responsabilidad del servicio; luego explicar el flujo visual y cerrar con la evidencia de funcionamiento.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services/ms-gateway/src/main/resources/application.yaml</a:t>
            </a:r>
          </a:p>
          <a:p xmlns:a="http://schemas.openxmlformats.org/drawingml/2006/main">
            <a:r>
              <a:t>- compose.yaml</a:t>
            </a:r>
          </a:p>
          <a:p xmlns:a="http://schemas.openxmlformats.org/drawingml/2006/main">
            <a:r>
              <a:t>- services/ms-pacientes/docs/contracts.md</a:t>
            </a:r>
          </a:p>
          <a:p xmlns:a="http://schemas.openxmlformats.org/drawingml/2006/main">
            <a:r>
              <a:t>- services/ms-documental/docs/contracts.md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dc46fd64d044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8213b63bd84ac7" /><Relationship Type="http://schemas.openxmlformats.org/officeDocument/2006/relationships/slideLayout" Target="/ppt/slideLayouts/slideLayout1.xml" Id="Rdbb1e7deff3141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b1e7deff3141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edicalSys">
      <a:dk1>
        <a:srgbClr val="000000"/>
      </a:dk1>
      <a:lt1>
        <a:srgbClr val="FFFFFF"/>
      </a:lt1>
      <a:dk2>
        <a:srgbClr val="111318"/>
      </a:dk2>
      <a:lt2>
        <a:srgbClr val="EAF3FF"/>
      </a:lt2>
      <a:accent1>
        <a:srgbClr val="3E86B8"/>
      </a:accent1>
      <a:accent2>
        <a:srgbClr val="2D73AA"/>
      </a:accent2>
      <a:accent3>
        <a:srgbClr val="2B9B74"/>
      </a:accent3>
      <a:accent4>
        <a:srgbClr val="D95C5C"/>
      </a:accent4>
      <a:accent5>
        <a:srgbClr val="8A63D2"/>
      </a:accent5>
      <a:accent6>
        <a:srgbClr val="D99A3E"/>
      </a:accent6>
      <a:hlink>
        <a:srgbClr val="2D73AA"/>
      </a:hlink>
      <a:folHlink>
        <a:srgbClr val="8A63D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edicalSy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5f0df58c34816" /><Relationship Type="http://schemas.openxmlformats.org/officeDocument/2006/relationships/notesSlide" Target="/ppt/notesSlides/notesSlide1.xml" Id="R3bd87849d67a48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5042da9d145f6" /><Relationship Type="http://schemas.openxmlformats.org/officeDocument/2006/relationships/notesSlide" Target="/ppt/notesSlides/notesSlide2.xml" Id="Rd047470d736d4f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55d457a694bab" /><Relationship Type="http://schemas.openxmlformats.org/officeDocument/2006/relationships/notesSlide" Target="/ppt/notesSlides/notesSlide3.xml" Id="Rfd540783a80c4a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b3fe9d2ac4d66" /><Relationship Type="http://schemas.openxmlformats.org/officeDocument/2006/relationships/notesSlide" Target="/ppt/notesSlides/notesSlide4.xml" Id="R121aecae9b3343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3f9649a764079" /><Relationship Type="http://schemas.openxmlformats.org/officeDocument/2006/relationships/notesSlide" Target="/ppt/notesSlides/notesSlide5.xml" Id="R0c0f925d7b3043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001-Kicker">
            <a:extLst xmlns:a="http://schemas.openxmlformats.org/drawingml/2006/main">
              <a:ext uri="{FF2B5EF4-FFF2-40B4-BE49-F238E27FC236}">
                <a16:creationId xmlns:a16="http://schemas.microsoft.com/office/drawing/2014/main" id="{17A517BD-6888-419B-80A5-F093896E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MEDICALSYS · SPRINT 2</a:t>
            </a:r>
          </a:p>
        </p:txBody>
      </p:sp>
      <p:sp>
        <p:nvSpPr>
          <p:cNvPr id="2" name="002-Title">
            <a:extLst xmlns:a="http://schemas.openxmlformats.org/drawingml/2006/main">
              <a:ext uri="{FF2B5EF4-FFF2-40B4-BE49-F238E27FC236}">
                <a16:creationId xmlns:a16="http://schemas.microsoft.com/office/drawing/2014/main" id="{6BE365D7-C79A-4644-9F4A-88396511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ms-pacientes</a:t>
            </a:r>
          </a:p>
        </p:txBody>
      </p:sp>
      <p:sp>
        <p:nvSpPr>
          <p:cNvPr id="3" name="003-Subtitle">
            <a:extLst xmlns:a="http://schemas.openxmlformats.org/drawingml/2006/main">
              <a:ext uri="{FF2B5EF4-FFF2-40B4-BE49-F238E27FC236}">
                <a16:creationId xmlns:a16="http://schemas.microsoft.com/office/drawing/2014/main" id="{FDA78D43-CF20-47B3-8155-8D0DF766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8B92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B929A"/>
                </a:solidFill>
                <a:latin typeface="Arial"/>
                <a:ea typeface="Arial"/>
                <a:cs typeface="Arial"/>
              </a:rPr>
              <a:t>Registro administrativo y consulta segura del paciente.</a:t>
            </a:r>
          </a:p>
        </p:txBody>
      </p:sp>
      <p:sp>
        <p:nvSpPr>
          <p:cNvPr id="4" name="004-Card 1">
            <a:extLst xmlns:a="http://schemas.openxmlformats.org/drawingml/2006/main">
              <a:ext uri="{FF2B5EF4-FFF2-40B4-BE49-F238E27FC236}">
                <a16:creationId xmlns:a16="http://schemas.microsoft.com/office/drawing/2014/main" id="{4987DF92-2178-4F5D-BD54-92F1F833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33750" cy="357187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5" name="005-Icon ring ID">
            <a:extLst xmlns:a="http://schemas.openxmlformats.org/drawingml/2006/main">
              <a:ext uri="{FF2B5EF4-FFF2-40B4-BE49-F238E27FC236}">
                <a16:creationId xmlns:a16="http://schemas.microsoft.com/office/drawing/2014/main" id="{4D2B8F67-F491-4A34-8EDE-6CBF666A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1457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3E86B8"/>
            </a:solidFill>
            <a:prstDash val="solid"/>
          </a:ln>
        </p:spPr>
      </p:sp>
      <p:sp>
        <p:nvSpPr>
          <p:cNvPr id="6" name="006-Icon ID">
            <a:extLst xmlns:a="http://schemas.openxmlformats.org/drawingml/2006/main">
              <a:ext uri="{FF2B5EF4-FFF2-40B4-BE49-F238E27FC236}">
                <a16:creationId xmlns:a16="http://schemas.microsoft.com/office/drawing/2014/main" id="{0F90DEC6-C79A-46F6-95D5-C426D6B9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4792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7" name="007-Card 1 title">
            <a:extLst xmlns:a="http://schemas.openxmlformats.org/drawingml/2006/main">
              <a:ext uri="{FF2B5EF4-FFF2-40B4-BE49-F238E27FC236}">
                <a16:creationId xmlns:a16="http://schemas.microsoft.com/office/drawing/2014/main" id="{F3748928-30FE-472D-AF39-502E1727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Registro validado</a:t>
            </a:r>
          </a:p>
        </p:txBody>
      </p:sp>
      <p:sp>
        <p:nvSpPr>
          <p:cNvPr id="8" name="008-Card 1 body">
            <a:extLst xmlns:a="http://schemas.openxmlformats.org/drawingml/2006/main">
              <a:ext uri="{FF2B5EF4-FFF2-40B4-BE49-F238E27FC236}">
                <a16:creationId xmlns:a16="http://schemas.microsoft.com/office/drawing/2014/main" id="{B3999D1B-5629-4C26-A75D-B84F97DE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571875"/>
            <a:ext cx="28575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8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Crea pacientes ficticios con documento único y un UUID público estable.</a:t>
            </a:r>
          </a:p>
        </p:txBody>
      </p:sp>
      <p:sp>
        <p:nvSpPr>
          <p:cNvPr id="9" name="009-Card 2">
            <a:extLst xmlns:a="http://schemas.openxmlformats.org/drawingml/2006/main">
              <a:ext uri="{FF2B5EF4-FFF2-40B4-BE49-F238E27FC236}">
                <a16:creationId xmlns:a16="http://schemas.microsoft.com/office/drawing/2014/main" id="{8EC29C75-5734-442C-B776-EEBDA5A8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76450"/>
            <a:ext cx="3333750" cy="357187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10" name="010-Icon ring ⌕">
            <a:extLst xmlns:a="http://schemas.openxmlformats.org/drawingml/2006/main">
              <a:ext uri="{FF2B5EF4-FFF2-40B4-BE49-F238E27FC236}">
                <a16:creationId xmlns:a16="http://schemas.microsoft.com/office/drawing/2014/main" id="{97B3488C-0178-4633-8F25-697C15F1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31457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3E86B8"/>
            </a:solidFill>
            <a:prstDash val="solid"/>
          </a:ln>
        </p:spPr>
      </p:sp>
      <p:sp>
        <p:nvSpPr>
          <p:cNvPr id="11" name="011-Icon ⌕">
            <a:extLst xmlns:a="http://schemas.openxmlformats.org/drawingml/2006/main">
              <a:ext uri="{FF2B5EF4-FFF2-40B4-BE49-F238E27FC236}">
                <a16:creationId xmlns:a16="http://schemas.microsoft.com/office/drawing/2014/main" id="{1784ACB3-60D1-4D54-832C-ADA0BAA0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44792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⌕</a:t>
            </a:r>
          </a:p>
        </p:txBody>
      </p:sp>
      <p:sp>
        <p:nvSpPr>
          <p:cNvPr id="12" name="012-Card 2 title">
            <a:extLst xmlns:a="http://schemas.openxmlformats.org/drawingml/2006/main">
              <a:ext uri="{FF2B5EF4-FFF2-40B4-BE49-F238E27FC236}">
                <a16:creationId xmlns:a16="http://schemas.microsoft.com/office/drawing/2014/main" id="{A25B9AC4-3BC1-441A-BBCA-B586CA62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81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Consulta rápida</a:t>
            </a:r>
          </a:p>
        </p:txBody>
      </p:sp>
      <p:sp>
        <p:nvSpPr>
          <p:cNvPr id="13" name="013-Card 2 body">
            <a:extLst xmlns:a="http://schemas.openxmlformats.org/drawingml/2006/main">
              <a:ext uri="{FF2B5EF4-FFF2-40B4-BE49-F238E27FC236}">
                <a16:creationId xmlns:a16="http://schemas.microsoft.com/office/drawing/2014/main" id="{09C80AB2-8AEE-4F7F-92B2-913A2311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71875"/>
            <a:ext cx="28575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8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Busca por UUID o documento sin exponer el identificador interno de la base.</a:t>
            </a:r>
          </a:p>
        </p:txBody>
      </p:sp>
      <p:sp>
        <p:nvSpPr>
          <p:cNvPr id="14" name="014-Card 3">
            <a:extLst xmlns:a="http://schemas.openxmlformats.org/drawingml/2006/main">
              <a:ext uri="{FF2B5EF4-FFF2-40B4-BE49-F238E27FC236}">
                <a16:creationId xmlns:a16="http://schemas.microsoft.com/office/drawing/2014/main" id="{8CBD714B-6C42-4CB4-BD67-211FBFF3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3333750" cy="357187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15" name="015-Icon ring API">
            <a:extLst xmlns:a="http://schemas.openxmlformats.org/drawingml/2006/main">
              <a:ext uri="{FF2B5EF4-FFF2-40B4-BE49-F238E27FC236}">
                <a16:creationId xmlns:a16="http://schemas.microsoft.com/office/drawing/2014/main" id="{606EC3C5-49AB-4CF4-BD45-5B1A86DC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1457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3E86B8"/>
            </a:solidFill>
            <a:prstDash val="solid"/>
          </a:ln>
        </p:spPr>
      </p:sp>
      <p:sp>
        <p:nvSpPr>
          <p:cNvPr id="16" name="016-Icon API">
            <a:extLst xmlns:a="http://schemas.openxmlformats.org/drawingml/2006/main">
              <a:ext uri="{FF2B5EF4-FFF2-40B4-BE49-F238E27FC236}">
                <a16:creationId xmlns:a16="http://schemas.microsoft.com/office/drawing/2014/main" id="{9840B686-152E-43F0-9716-07276AFA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4792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7" name="017-Card 3 title">
            <a:extLst xmlns:a="http://schemas.openxmlformats.org/drawingml/2006/main">
              <a:ext uri="{FF2B5EF4-FFF2-40B4-BE49-F238E27FC236}">
                <a16:creationId xmlns:a16="http://schemas.microsoft.com/office/drawing/2014/main" id="{F28698CE-E3A8-4561-8E88-84DCA7A2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81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Integración mínima</a:t>
            </a:r>
          </a:p>
        </p:txBody>
      </p:sp>
      <p:sp>
        <p:nvSpPr>
          <p:cNvPr id="18" name="018-Card 3 body">
            <a:extLst xmlns:a="http://schemas.openxmlformats.org/drawingml/2006/main">
              <a:ext uri="{FF2B5EF4-FFF2-40B4-BE49-F238E27FC236}">
                <a16:creationId xmlns:a16="http://schemas.microsoft.com/office/drawing/2014/main" id="{E8B1C6E9-3753-4BBE-BB22-10FF24D0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571875"/>
            <a:ext cx="28575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8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Agenda y Facturación reciben únicamente los datos necesarios para continuar el flujo.</a:t>
            </a:r>
          </a:p>
        </p:txBody>
      </p:sp>
      <p:sp>
        <p:nvSpPr>
          <p:cNvPr id="19" name="019-Status band">
            <a:extLst xmlns:a="http://schemas.openxmlformats.org/drawingml/2006/main">
              <a:ext uri="{FF2B5EF4-FFF2-40B4-BE49-F238E27FC236}">
                <a16:creationId xmlns:a16="http://schemas.microsoft.com/office/drawing/2014/main" id="{36F13820-18B0-4BC6-8C12-9DFBA688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20" name="020-Status icon">
            <a:extLst xmlns:a="http://schemas.openxmlformats.org/drawingml/2006/main">
              <a:ext uri="{FF2B5EF4-FFF2-40B4-BE49-F238E27FC236}">
                <a16:creationId xmlns:a16="http://schemas.microsoft.com/office/drawing/2014/main" id="{68BE408C-4FF7-414D-8D46-B63217E0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245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021-Status check">
            <a:extLst xmlns:a="http://schemas.openxmlformats.org/drawingml/2006/main">
              <a:ext uri="{FF2B5EF4-FFF2-40B4-BE49-F238E27FC236}">
                <a16:creationId xmlns:a16="http://schemas.microsoft.com/office/drawing/2014/main" id="{570A11D1-B7E1-49FC-9BCB-4396BF61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153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2" name="022-Status label">
            <a:extLst xmlns:a="http://schemas.openxmlformats.org/drawingml/2006/main">
              <a:ext uri="{FF2B5EF4-FFF2-40B4-BE49-F238E27FC236}">
                <a16:creationId xmlns:a16="http://schemas.microsoft.com/office/drawing/2014/main" id="{89A90D9A-4398-4756-A3E8-DE363D9F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1531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Estado:</a:t>
            </a:r>
          </a:p>
        </p:txBody>
      </p:sp>
      <p:sp>
        <p:nvSpPr>
          <p:cNvPr id="23" name="023-Status value">
            <a:extLst xmlns:a="http://schemas.openxmlformats.org/drawingml/2006/main">
              <a:ext uri="{FF2B5EF4-FFF2-40B4-BE49-F238E27FC236}">
                <a16:creationId xmlns:a16="http://schemas.microsoft.com/office/drawing/2014/main" id="{697AFC35-784C-4739-9F57-3E1AB0AE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53150"/>
            <a:ext cx="804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MVP funcional · 10 pruebas · acceso por gateway listo</a:t>
            </a:r>
          </a:p>
        </p:txBody>
      </p:sp>
    </p:spTree>
    <p:extLst>
      <p:ext uri="{BB962C8B-B14F-4D97-AF65-F5344CB8AC3E}">
        <p14:creationId xmlns:p14="http://schemas.microsoft.com/office/powerpoint/2010/main" val="1691903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024-Kicker">
            <a:extLst xmlns:a="http://schemas.openxmlformats.org/drawingml/2006/main">
              <a:ext uri="{FF2B5EF4-FFF2-40B4-BE49-F238E27FC236}">
                <a16:creationId xmlns:a16="http://schemas.microsoft.com/office/drawing/2014/main" id="{02744C2F-1CD5-4021-8BBD-40C9B6B6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MEDICALSYS · SPRINT 2</a:t>
            </a:r>
          </a:p>
        </p:txBody>
      </p:sp>
      <p:sp>
        <p:nvSpPr>
          <p:cNvPr id="2" name="025-Title">
            <a:extLst xmlns:a="http://schemas.openxmlformats.org/drawingml/2006/main">
              <a:ext uri="{FF2B5EF4-FFF2-40B4-BE49-F238E27FC236}">
                <a16:creationId xmlns:a16="http://schemas.microsoft.com/office/drawing/2014/main" id="{5D71FC81-52DE-4C12-B9DF-3D5D377F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ms-pacientes en el flujo clínico</a:t>
            </a:r>
          </a:p>
        </p:txBody>
      </p:sp>
      <p:sp>
        <p:nvSpPr>
          <p:cNvPr id="3" name="026-Subtitle">
            <a:extLst xmlns:a="http://schemas.openxmlformats.org/drawingml/2006/main">
              <a:ext uri="{FF2B5EF4-FFF2-40B4-BE49-F238E27FC236}">
                <a16:creationId xmlns:a16="http://schemas.microsoft.com/office/drawing/2014/main" id="{3D3882F1-D0D2-4348-9E20-4A59D223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8B92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B929A"/>
                </a:solidFill>
                <a:latin typeface="Arial"/>
                <a:ea typeface="Arial"/>
                <a:cs typeface="Arial"/>
              </a:rPr>
              <a:t>Una identidad única conecta cita, atención y cobro.</a:t>
            </a:r>
          </a:p>
        </p:txBody>
      </p:sp>
      <p:sp>
        <p:nvSpPr>
          <p:cNvPr id="4" name="027-Flow node 1">
            <a:extLst xmlns:a="http://schemas.openxmlformats.org/drawingml/2006/main">
              <a:ext uri="{FF2B5EF4-FFF2-40B4-BE49-F238E27FC236}">
                <a16:creationId xmlns:a16="http://schemas.microsoft.com/office/drawing/2014/main" id="{0D6A2CD6-D0C1-4AF0-B8FF-E15DA1FC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2383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5" name="028-Flow step 1">
            <a:extLst xmlns:a="http://schemas.openxmlformats.org/drawingml/2006/main">
              <a:ext uri="{FF2B5EF4-FFF2-40B4-BE49-F238E27FC236}">
                <a16:creationId xmlns:a16="http://schemas.microsoft.com/office/drawing/2014/main" id="{70B09803-290E-4110-87E2-F9625A8B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29-Flow step text 1">
            <a:extLst xmlns:a="http://schemas.openxmlformats.org/drawingml/2006/main">
              <a:ext uri="{FF2B5EF4-FFF2-40B4-BE49-F238E27FC236}">
                <a16:creationId xmlns:a16="http://schemas.microsoft.com/office/drawing/2014/main" id="{4D225F33-F9AD-4E32-AC0B-CB58D321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030-Icon ring ID">
            <a:extLst xmlns:a="http://schemas.openxmlformats.org/drawingml/2006/main">
              <a:ext uri="{FF2B5EF4-FFF2-40B4-BE49-F238E27FC236}">
                <a16:creationId xmlns:a16="http://schemas.microsoft.com/office/drawing/2014/main" id="{F43C5021-8BEF-41CE-A388-4C4ECBF1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3" y="26289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3E86B8"/>
            </a:solidFill>
            <a:prstDash val="solid"/>
          </a:ln>
        </p:spPr>
      </p:sp>
      <p:sp>
        <p:nvSpPr>
          <p:cNvPr id="8" name="031-Icon ID">
            <a:extLst xmlns:a="http://schemas.openxmlformats.org/drawingml/2006/main">
              <a:ext uri="{FF2B5EF4-FFF2-40B4-BE49-F238E27FC236}">
                <a16:creationId xmlns:a16="http://schemas.microsoft.com/office/drawing/2014/main" id="{2EF5FEA8-7F64-4AB7-AB5C-3C84D77C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3" y="27622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9" name="032-Flow title 1">
            <a:extLst xmlns:a="http://schemas.openxmlformats.org/drawingml/2006/main">
              <a:ext uri="{FF2B5EF4-FFF2-40B4-BE49-F238E27FC236}">
                <a16:creationId xmlns:a16="http://schemas.microsoft.com/office/drawing/2014/main" id="{79346C30-38F4-4CF4-8049-6318C552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Recepción</a:t>
            </a:r>
          </a:p>
        </p:txBody>
      </p:sp>
      <p:sp>
        <p:nvSpPr>
          <p:cNvPr id="10" name="033-Flow body 1">
            <a:extLst xmlns:a="http://schemas.openxmlformats.org/drawingml/2006/main">
              <a:ext uri="{FF2B5EF4-FFF2-40B4-BE49-F238E27FC236}">
                <a16:creationId xmlns:a16="http://schemas.microsoft.com/office/drawing/2014/main" id="{E483C614-8D52-4170-A7E9-BA417489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895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Registra datos administrativos y valida el documento.</a:t>
            </a:r>
          </a:p>
        </p:txBody>
      </p:sp>
      <p:sp>
        <p:nvSpPr>
          <p:cNvPr id="11" name="034-Arrow 316">
            <a:extLst xmlns:a="http://schemas.openxmlformats.org/drawingml/2006/main">
              <a:ext uri="{FF2B5EF4-FFF2-40B4-BE49-F238E27FC236}">
                <a16:creationId xmlns:a16="http://schemas.microsoft.com/office/drawing/2014/main" id="{AADD9CBE-844B-4669-BE02-250FB02B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28950"/>
            <a:ext cx="41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035-Flow node 2">
            <a:extLst xmlns:a="http://schemas.openxmlformats.org/drawingml/2006/main">
              <a:ext uri="{FF2B5EF4-FFF2-40B4-BE49-F238E27FC236}">
                <a16:creationId xmlns:a16="http://schemas.microsoft.com/office/drawing/2014/main" id="{49A043A0-786F-4A3A-A83B-24EDDA26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38375"/>
            <a:ext cx="22383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13" name="036-Flow step 2">
            <a:extLst xmlns:a="http://schemas.openxmlformats.org/drawingml/2006/main">
              <a:ext uri="{FF2B5EF4-FFF2-40B4-BE49-F238E27FC236}">
                <a16:creationId xmlns:a16="http://schemas.microsoft.com/office/drawing/2014/main" id="{51D377BC-11FC-4AF8-829F-8D984907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907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037-Flow step text 2">
            <a:extLst xmlns:a="http://schemas.openxmlformats.org/drawingml/2006/main">
              <a:ext uri="{FF2B5EF4-FFF2-40B4-BE49-F238E27FC236}">
                <a16:creationId xmlns:a16="http://schemas.microsoft.com/office/drawing/2014/main" id="{408D6344-F74D-4380-ABB6-C6804D0E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09825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038-Icon ring DB">
            <a:extLst xmlns:a="http://schemas.openxmlformats.org/drawingml/2006/main">
              <a:ext uri="{FF2B5EF4-FFF2-40B4-BE49-F238E27FC236}">
                <a16:creationId xmlns:a16="http://schemas.microsoft.com/office/drawing/2014/main" id="{9C788D72-0822-44B0-999F-E93CFB1C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6289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3E86B8"/>
            </a:solidFill>
            <a:prstDash val="solid"/>
          </a:ln>
        </p:spPr>
      </p:sp>
      <p:sp>
        <p:nvSpPr>
          <p:cNvPr id="16" name="039-Icon DB">
            <a:extLst xmlns:a="http://schemas.openxmlformats.org/drawingml/2006/main">
              <a:ext uri="{FF2B5EF4-FFF2-40B4-BE49-F238E27FC236}">
                <a16:creationId xmlns:a16="http://schemas.microsoft.com/office/drawing/2014/main" id="{02B93B11-F305-4782-A75E-96E1EBB4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288" y="27622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DB</a:t>
            </a:r>
          </a:p>
        </p:txBody>
      </p:sp>
      <p:sp>
        <p:nvSpPr>
          <p:cNvPr id="17" name="040-Flow title 2">
            <a:extLst xmlns:a="http://schemas.openxmlformats.org/drawingml/2006/main">
              <a:ext uri="{FF2B5EF4-FFF2-40B4-BE49-F238E27FC236}">
                <a16:creationId xmlns:a16="http://schemas.microsoft.com/office/drawing/2014/main" id="{3DD77767-1996-4A34-840D-0EA7ED77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7662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patients_db</a:t>
            </a:r>
          </a:p>
        </p:txBody>
      </p:sp>
      <p:sp>
        <p:nvSpPr>
          <p:cNvPr id="18" name="041-Flow body 2">
            <a:extLst xmlns:a="http://schemas.openxmlformats.org/drawingml/2006/main">
              <a:ext uri="{FF2B5EF4-FFF2-40B4-BE49-F238E27FC236}">
                <a16:creationId xmlns:a16="http://schemas.microsoft.com/office/drawing/2014/main" id="{5862B9D3-E9A6-478A-96BC-B316B2E4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848100"/>
            <a:ext cx="1895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Guarda el perfil; el UUID público viaja entre servicios.</a:t>
            </a:r>
          </a:p>
        </p:txBody>
      </p:sp>
      <p:sp>
        <p:nvSpPr>
          <p:cNvPr id="19" name="042-Arrow 599">
            <a:extLst xmlns:a="http://schemas.openxmlformats.org/drawingml/2006/main">
              <a:ext uri="{FF2B5EF4-FFF2-40B4-BE49-F238E27FC236}">
                <a16:creationId xmlns:a16="http://schemas.microsoft.com/office/drawing/2014/main" id="{820F86F3-6F65-4FE4-9D45-F63DC33A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028950"/>
            <a:ext cx="41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043-Flow node 3">
            <a:extLst xmlns:a="http://schemas.openxmlformats.org/drawingml/2006/main">
              <a:ext uri="{FF2B5EF4-FFF2-40B4-BE49-F238E27FC236}">
                <a16:creationId xmlns:a16="http://schemas.microsoft.com/office/drawing/2014/main" id="{1DF3D5CA-AA78-469E-8D57-C3C79527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38375"/>
            <a:ext cx="22383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21" name="044-Flow step 3">
            <a:extLst xmlns:a="http://schemas.openxmlformats.org/drawingml/2006/main">
              <a:ext uri="{FF2B5EF4-FFF2-40B4-BE49-F238E27FC236}">
                <a16:creationId xmlns:a16="http://schemas.microsoft.com/office/drawing/2014/main" id="{A30610D8-FCC1-4543-A3B9-B3AF33F7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907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045-Flow step text 3">
            <a:extLst xmlns:a="http://schemas.openxmlformats.org/drawingml/2006/main">
              <a:ext uri="{FF2B5EF4-FFF2-40B4-BE49-F238E27FC236}">
                <a16:creationId xmlns:a16="http://schemas.microsoft.com/office/drawing/2014/main" id="{CED4E43B-DABB-40CA-AFD5-74D8DE3B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9825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046-Icon ring API">
            <a:extLst xmlns:a="http://schemas.openxmlformats.org/drawingml/2006/main">
              <a:ext uri="{FF2B5EF4-FFF2-40B4-BE49-F238E27FC236}">
                <a16:creationId xmlns:a16="http://schemas.microsoft.com/office/drawing/2014/main" id="{ECA88649-3BC9-49BD-8808-F4D64575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5613" y="26289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3E86B8"/>
            </a:solidFill>
            <a:prstDash val="solid"/>
          </a:ln>
        </p:spPr>
      </p:sp>
      <p:sp>
        <p:nvSpPr>
          <p:cNvPr id="24" name="047-Icon API">
            <a:extLst xmlns:a="http://schemas.openxmlformats.org/drawingml/2006/main">
              <a:ext uri="{FF2B5EF4-FFF2-40B4-BE49-F238E27FC236}">
                <a16:creationId xmlns:a16="http://schemas.microsoft.com/office/drawing/2014/main" id="{E95B0564-4127-42E5-99A3-B0A06511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7622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25" name="048-Flow title 3">
            <a:extLst xmlns:a="http://schemas.openxmlformats.org/drawingml/2006/main">
              <a:ext uri="{FF2B5EF4-FFF2-40B4-BE49-F238E27FC236}">
                <a16:creationId xmlns:a16="http://schemas.microsoft.com/office/drawing/2014/main" id="{3F7F299F-F8F2-496D-830E-C4401BB1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Agenda e historial</a:t>
            </a:r>
          </a:p>
        </p:txBody>
      </p:sp>
      <p:sp>
        <p:nvSpPr>
          <p:cNvPr id="26" name="049-Flow body 3">
            <a:extLst xmlns:a="http://schemas.openxmlformats.org/drawingml/2006/main">
              <a:ext uri="{FF2B5EF4-FFF2-40B4-BE49-F238E27FC236}">
                <a16:creationId xmlns:a16="http://schemas.microsoft.com/office/drawing/2014/main" id="{91AC719D-5C39-473C-B394-F34F7089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48100"/>
            <a:ext cx="1895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Referencian al paciente sin consultar su base directamente.</a:t>
            </a:r>
          </a:p>
        </p:txBody>
      </p:sp>
      <p:sp>
        <p:nvSpPr>
          <p:cNvPr id="27" name="050-Arrow 882">
            <a:extLst xmlns:a="http://schemas.openxmlformats.org/drawingml/2006/main">
              <a:ext uri="{FF2B5EF4-FFF2-40B4-BE49-F238E27FC236}">
                <a16:creationId xmlns:a16="http://schemas.microsoft.com/office/drawing/2014/main" id="{B9CBE772-5D04-41E7-A648-134810D1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41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051-Flow node 4">
            <a:extLst xmlns:a="http://schemas.openxmlformats.org/drawingml/2006/main">
              <a:ext uri="{FF2B5EF4-FFF2-40B4-BE49-F238E27FC236}">
                <a16:creationId xmlns:a16="http://schemas.microsoft.com/office/drawing/2014/main" id="{0C5AADFA-DDDB-4ADB-98A6-E65B98ED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38375"/>
            <a:ext cx="27336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29" name="052-Flow step 4">
            <a:extLst xmlns:a="http://schemas.openxmlformats.org/drawingml/2006/main">
              <a:ext uri="{FF2B5EF4-FFF2-40B4-BE49-F238E27FC236}">
                <a16:creationId xmlns:a16="http://schemas.microsoft.com/office/drawing/2014/main" id="{5E8DF6A3-FA05-4E7E-B897-062A23D6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907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053-Flow step text 4">
            <a:extLst xmlns:a="http://schemas.openxmlformats.org/drawingml/2006/main">
              <a:ext uri="{FF2B5EF4-FFF2-40B4-BE49-F238E27FC236}">
                <a16:creationId xmlns:a16="http://schemas.microsoft.com/office/drawing/2014/main" id="{28220BB7-A1A1-4E80-A795-8916D278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409825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054-Icon ring $">
            <a:extLst xmlns:a="http://schemas.openxmlformats.org/drawingml/2006/main">
              <a:ext uri="{FF2B5EF4-FFF2-40B4-BE49-F238E27FC236}">
                <a16:creationId xmlns:a16="http://schemas.microsoft.com/office/drawing/2014/main" id="{14A55B0B-A9B1-4270-9F0B-59B3285A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8838" y="26289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3E86B8"/>
            </a:solidFill>
            <a:prstDash val="solid"/>
          </a:ln>
        </p:spPr>
      </p:sp>
      <p:sp>
        <p:nvSpPr>
          <p:cNvPr id="32" name="055-Icon $">
            <a:extLst xmlns:a="http://schemas.openxmlformats.org/drawingml/2006/main">
              <a:ext uri="{FF2B5EF4-FFF2-40B4-BE49-F238E27FC236}">
                <a16:creationId xmlns:a16="http://schemas.microsoft.com/office/drawing/2014/main" id="{E3EC005D-0528-46FE-87A6-6F9654F6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088" y="27622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33" name="056-Flow title 4">
            <a:extLst xmlns:a="http://schemas.openxmlformats.org/drawingml/2006/main">
              <a:ext uri="{FF2B5EF4-FFF2-40B4-BE49-F238E27FC236}">
                <a16:creationId xmlns:a16="http://schemas.microsoft.com/office/drawing/2014/main" id="{C2E559B3-3EC8-43B9-AFC1-D2E3C06D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47662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Facturación</a:t>
            </a:r>
          </a:p>
        </p:txBody>
      </p:sp>
      <p:sp>
        <p:nvSpPr>
          <p:cNvPr id="34" name="057-Flow body 4">
            <a:extLst xmlns:a="http://schemas.openxmlformats.org/drawingml/2006/main">
              <a:ext uri="{FF2B5EF4-FFF2-40B4-BE49-F238E27FC236}">
                <a16:creationId xmlns:a16="http://schemas.microsoft.com/office/drawing/2014/main" id="{ABF72B0B-6435-4250-9609-009FBA43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848100"/>
            <a:ext cx="2390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Usa la referencia del paciente para emitir el comprobante.</a:t>
            </a:r>
          </a:p>
        </p:txBody>
      </p:sp>
      <p:sp>
        <p:nvSpPr>
          <p:cNvPr id="35" name="058-Rules strip">
            <a:extLst xmlns:a="http://schemas.openxmlformats.org/drawingml/2006/main">
              <a:ext uri="{FF2B5EF4-FFF2-40B4-BE49-F238E27FC236}">
                <a16:creationId xmlns:a16="http://schemas.microsoft.com/office/drawing/2014/main" id="{FABFF400-0F00-4A5C-8979-A635D1D4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0F6FD"/>
          </a:solidFill>
          <a:ln xmlns:a="http://schemas.openxmlformats.org/drawingml/2006/main" w="11430">
            <a:solidFill>
              <a:srgbClr val="3E86B8"/>
            </a:solidFill>
            <a:prstDash val="solid"/>
          </a:ln>
        </p:spPr>
      </p:sp>
      <p:sp>
        <p:nvSpPr>
          <p:cNvPr id="36" name="059-Validation rule">
            <a:extLst xmlns:a="http://schemas.openxmlformats.org/drawingml/2006/main">
              <a:ext uri="{FF2B5EF4-FFF2-40B4-BE49-F238E27FC236}">
                <a16:creationId xmlns:a16="http://schemas.microsoft.com/office/drawing/2014/main" id="{4476BDE3-171C-43F2-9A3E-CC353FE1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VALIDACIÓN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CI · teléfono E.164 · documento único</a:t>
            </a:r>
          </a:p>
        </p:txBody>
      </p:sp>
      <p:sp>
        <p:nvSpPr>
          <p:cNvPr id="37" name="060-Security rule">
            <a:extLst xmlns:a="http://schemas.openxmlformats.org/drawingml/2006/main">
              <a:ext uri="{FF2B5EF4-FFF2-40B4-BE49-F238E27FC236}">
                <a16:creationId xmlns:a16="http://schemas.microsoft.com/office/drawing/2014/main" id="{DC1BC379-6756-4BA7-AF4D-BB5D3400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48225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ACCESO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roles · tenant · X-Correlation-Id</a:t>
            </a:r>
          </a:p>
        </p:txBody>
      </p:sp>
      <p:sp>
        <p:nvSpPr>
          <p:cNvPr id="38" name="061-Status band">
            <a:extLst xmlns:a="http://schemas.openxmlformats.org/drawingml/2006/main">
              <a:ext uri="{FF2B5EF4-FFF2-40B4-BE49-F238E27FC236}">
                <a16:creationId xmlns:a16="http://schemas.microsoft.com/office/drawing/2014/main" id="{5E458FB3-EA1D-45C5-B539-E04DA003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39" name="062-Status icon">
            <a:extLst xmlns:a="http://schemas.openxmlformats.org/drawingml/2006/main">
              <a:ext uri="{FF2B5EF4-FFF2-40B4-BE49-F238E27FC236}">
                <a16:creationId xmlns:a16="http://schemas.microsoft.com/office/drawing/2014/main" id="{373860F7-9012-4E5C-8EA5-313B2DF4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0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063-Status check">
            <a:extLst xmlns:a="http://schemas.openxmlformats.org/drawingml/2006/main">
              <a:ext uri="{FF2B5EF4-FFF2-40B4-BE49-F238E27FC236}">
                <a16:creationId xmlns:a16="http://schemas.microsoft.com/office/drawing/2014/main" id="{921EEF6E-834A-40F2-A029-42F40CE1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9340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1" name="064-Status label">
            <a:extLst xmlns:a="http://schemas.openxmlformats.org/drawingml/2006/main">
              <a:ext uri="{FF2B5EF4-FFF2-40B4-BE49-F238E27FC236}">
                <a16:creationId xmlns:a16="http://schemas.microsoft.com/office/drawing/2014/main" id="{85F3A984-3073-4E30-92AC-7719057C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9340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Resultado:</a:t>
            </a:r>
          </a:p>
        </p:txBody>
      </p:sp>
      <p:sp>
        <p:nvSpPr>
          <p:cNvPr id="42" name="065-Status value">
            <a:extLst xmlns:a="http://schemas.openxmlformats.org/drawingml/2006/main">
              <a:ext uri="{FF2B5EF4-FFF2-40B4-BE49-F238E27FC236}">
                <a16:creationId xmlns:a16="http://schemas.microsoft.com/office/drawing/2014/main" id="{1D108B28-248F-481D-8FA8-3DADD30E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34075"/>
            <a:ext cx="804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un patientId público acompaña el flujo sin compartir la base</a:t>
            </a:r>
          </a:p>
        </p:txBody>
      </p:sp>
    </p:spTree>
    <p:extLst>
      <p:ext uri="{BB962C8B-B14F-4D97-AF65-F5344CB8AC3E}">
        <p14:creationId xmlns:p14="http://schemas.microsoft.com/office/powerpoint/2010/main" val="21137288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066-Kicker">
            <a:extLst xmlns:a="http://schemas.openxmlformats.org/drawingml/2006/main">
              <a:ext uri="{FF2B5EF4-FFF2-40B4-BE49-F238E27FC236}">
                <a16:creationId xmlns:a16="http://schemas.microsoft.com/office/drawing/2014/main" id="{3EEB89EB-AF87-41DD-B130-23AFC5AF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MEDICALSYS · SPRINT 2</a:t>
            </a:r>
          </a:p>
        </p:txBody>
      </p:sp>
      <p:sp>
        <p:nvSpPr>
          <p:cNvPr id="2" name="067-Title">
            <a:extLst xmlns:a="http://schemas.openxmlformats.org/drawingml/2006/main">
              <a:ext uri="{FF2B5EF4-FFF2-40B4-BE49-F238E27FC236}">
                <a16:creationId xmlns:a16="http://schemas.microsoft.com/office/drawing/2014/main" id="{BD8328B8-C591-438E-A2A2-2DFFEE08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ms-documental</a:t>
            </a:r>
          </a:p>
        </p:txBody>
      </p:sp>
      <p:sp>
        <p:nvSpPr>
          <p:cNvPr id="3" name="068-Subtitle">
            <a:extLst xmlns:a="http://schemas.openxmlformats.org/drawingml/2006/main">
              <a:ext uri="{FF2B5EF4-FFF2-40B4-BE49-F238E27FC236}">
                <a16:creationId xmlns:a16="http://schemas.microsoft.com/office/drawing/2014/main" id="{6295A255-01C2-41A7-980B-31B9808E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8B92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B929A"/>
                </a:solidFill>
                <a:latin typeface="Arial"/>
                <a:ea typeface="Arial"/>
                <a:cs typeface="Arial"/>
              </a:rPr>
              <a:t>Bytes en MinIO, metadatos e integridad en documents_db.</a:t>
            </a:r>
          </a:p>
        </p:txBody>
      </p:sp>
      <p:sp>
        <p:nvSpPr>
          <p:cNvPr id="4" name="069-Card 1">
            <a:extLst xmlns:a="http://schemas.openxmlformats.org/drawingml/2006/main">
              <a:ext uri="{FF2B5EF4-FFF2-40B4-BE49-F238E27FC236}">
                <a16:creationId xmlns:a16="http://schemas.microsoft.com/office/drawing/2014/main" id="{104A74E1-C631-496B-8A07-E031FA0F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33750" cy="357187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5" name="070-Icon ring ↑">
            <a:extLst xmlns:a="http://schemas.openxmlformats.org/drawingml/2006/main">
              <a:ext uri="{FF2B5EF4-FFF2-40B4-BE49-F238E27FC236}">
                <a16:creationId xmlns:a16="http://schemas.microsoft.com/office/drawing/2014/main" id="{D04C2E0E-BCDC-4CDA-9948-FBA3D673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1457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3E86B8"/>
            </a:solidFill>
            <a:prstDash val="solid"/>
          </a:ln>
        </p:spPr>
      </p:sp>
      <p:sp>
        <p:nvSpPr>
          <p:cNvPr id="6" name="071-Icon ↑">
            <a:extLst xmlns:a="http://schemas.openxmlformats.org/drawingml/2006/main">
              <a:ext uri="{FF2B5EF4-FFF2-40B4-BE49-F238E27FC236}">
                <a16:creationId xmlns:a16="http://schemas.microsoft.com/office/drawing/2014/main" id="{90D2E4D2-EF70-4818-ACB8-8CAC3CB6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4792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↑</a:t>
            </a:r>
          </a:p>
        </p:txBody>
      </p:sp>
      <p:sp>
        <p:nvSpPr>
          <p:cNvPr id="7" name="072-Card 1 title">
            <a:extLst xmlns:a="http://schemas.openxmlformats.org/drawingml/2006/main">
              <a:ext uri="{FF2B5EF4-FFF2-40B4-BE49-F238E27FC236}">
                <a16:creationId xmlns:a16="http://schemas.microsoft.com/office/drawing/2014/main" id="{A78F995E-AAFC-4037-B199-3EB14E13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Archivo privado</a:t>
            </a:r>
          </a:p>
        </p:txBody>
      </p:sp>
      <p:sp>
        <p:nvSpPr>
          <p:cNvPr id="8" name="073-Card 1 body">
            <a:extLst xmlns:a="http://schemas.openxmlformats.org/drawingml/2006/main">
              <a:ext uri="{FF2B5EF4-FFF2-40B4-BE49-F238E27FC236}">
                <a16:creationId xmlns:a16="http://schemas.microsoft.com/office/drawing/2014/main" id="{75D87781-CCF5-4693-B53C-AC72C0BD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571875"/>
            <a:ext cx="28575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8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MinIO almacena PDF, imágenes y DICOM; el microservicio controla la clave del objeto.</a:t>
            </a:r>
          </a:p>
        </p:txBody>
      </p:sp>
      <p:sp>
        <p:nvSpPr>
          <p:cNvPr id="9" name="074-Card 2">
            <a:extLst xmlns:a="http://schemas.openxmlformats.org/drawingml/2006/main">
              <a:ext uri="{FF2B5EF4-FFF2-40B4-BE49-F238E27FC236}">
                <a16:creationId xmlns:a16="http://schemas.microsoft.com/office/drawing/2014/main" id="{6D6B2214-046A-40C5-A4E2-19894B6B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76450"/>
            <a:ext cx="3333750" cy="357187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10" name="075-Icon ring DB">
            <a:extLst xmlns:a="http://schemas.openxmlformats.org/drawingml/2006/main">
              <a:ext uri="{FF2B5EF4-FFF2-40B4-BE49-F238E27FC236}">
                <a16:creationId xmlns:a16="http://schemas.microsoft.com/office/drawing/2014/main" id="{052BA00E-98E3-48CD-89B6-1A1D1513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31457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3E86B8"/>
            </a:solidFill>
            <a:prstDash val="solid"/>
          </a:ln>
        </p:spPr>
      </p:sp>
      <p:sp>
        <p:nvSpPr>
          <p:cNvPr id="11" name="076-Icon DB">
            <a:extLst xmlns:a="http://schemas.openxmlformats.org/drawingml/2006/main">
              <a:ext uri="{FF2B5EF4-FFF2-40B4-BE49-F238E27FC236}">
                <a16:creationId xmlns:a16="http://schemas.microsoft.com/office/drawing/2014/main" id="{4C67FD01-CB3B-469D-857F-C3715885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44792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DB</a:t>
            </a:r>
          </a:p>
        </p:txBody>
      </p:sp>
      <p:sp>
        <p:nvSpPr>
          <p:cNvPr id="12" name="077-Card 2 title">
            <a:extLst xmlns:a="http://schemas.openxmlformats.org/drawingml/2006/main">
              <a:ext uri="{FF2B5EF4-FFF2-40B4-BE49-F238E27FC236}">
                <a16:creationId xmlns:a16="http://schemas.microsoft.com/office/drawing/2014/main" id="{3D717378-FB8A-4A19-A9BA-C87924F2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81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Trazabilidad</a:t>
            </a:r>
          </a:p>
        </p:txBody>
      </p:sp>
      <p:sp>
        <p:nvSpPr>
          <p:cNvPr id="13" name="078-Card 2 body">
            <a:extLst xmlns:a="http://schemas.openxmlformats.org/drawingml/2006/main">
              <a:ext uri="{FF2B5EF4-FFF2-40B4-BE49-F238E27FC236}">
                <a16:creationId xmlns:a16="http://schemas.microsoft.com/office/drawing/2014/main" id="{4B10DA40-BAE1-454D-B1F6-0BFFC96E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71875"/>
            <a:ext cx="28575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8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MySQL conserva tipo, MIME, tamaño, SHA-256, paciente y vínculos clínicos.</a:t>
            </a:r>
          </a:p>
        </p:txBody>
      </p:sp>
      <p:sp>
        <p:nvSpPr>
          <p:cNvPr id="14" name="079-Card 3">
            <a:extLst xmlns:a="http://schemas.openxmlformats.org/drawingml/2006/main">
              <a:ext uri="{FF2B5EF4-FFF2-40B4-BE49-F238E27FC236}">
                <a16:creationId xmlns:a16="http://schemas.microsoft.com/office/drawing/2014/main" id="{904CEEC8-094A-4BF1-9D33-3542FD54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3333750" cy="357187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15" name="080-Icon ring ✓">
            <a:extLst xmlns:a="http://schemas.openxmlformats.org/drawingml/2006/main">
              <a:ext uri="{FF2B5EF4-FFF2-40B4-BE49-F238E27FC236}">
                <a16:creationId xmlns:a16="http://schemas.microsoft.com/office/drawing/2014/main" id="{3DA139C5-C9DC-4825-B8CF-546CF6F3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1457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3E86B8"/>
            </a:solidFill>
            <a:prstDash val="solid"/>
          </a:ln>
        </p:spPr>
      </p:sp>
      <p:sp>
        <p:nvSpPr>
          <p:cNvPr id="16" name="081-Icon ✓">
            <a:extLst xmlns:a="http://schemas.openxmlformats.org/drawingml/2006/main">
              <a:ext uri="{FF2B5EF4-FFF2-40B4-BE49-F238E27FC236}">
                <a16:creationId xmlns:a16="http://schemas.microsoft.com/office/drawing/2014/main" id="{413E0995-DED9-4A80-991B-0DAB09E5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4792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082-Card 3 title">
            <a:extLst xmlns:a="http://schemas.openxmlformats.org/drawingml/2006/main">
              <a:ext uri="{FF2B5EF4-FFF2-40B4-BE49-F238E27FC236}">
                <a16:creationId xmlns:a16="http://schemas.microsoft.com/office/drawing/2014/main" id="{AF3CFEAB-8BAE-40E6-BF26-83190DBB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81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Integridad real</a:t>
            </a:r>
          </a:p>
        </p:txBody>
      </p:sp>
      <p:sp>
        <p:nvSpPr>
          <p:cNvPr id="18" name="083-Card 3 body">
            <a:extLst xmlns:a="http://schemas.openxmlformats.org/drawingml/2006/main">
              <a:ext uri="{FF2B5EF4-FFF2-40B4-BE49-F238E27FC236}">
                <a16:creationId xmlns:a16="http://schemas.microsoft.com/office/drawing/2014/main" id="{5F29DD1C-FBEF-4D66-BAD8-CC20F4BA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571875"/>
            <a:ext cx="28575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8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Al descargar se recalculan el hash y el tamaño antes de entregar el archivo.</a:t>
            </a:r>
          </a:p>
        </p:txBody>
      </p:sp>
      <p:sp>
        <p:nvSpPr>
          <p:cNvPr id="19" name="084-Status band">
            <a:extLst xmlns:a="http://schemas.openxmlformats.org/drawingml/2006/main">
              <a:ext uri="{FF2B5EF4-FFF2-40B4-BE49-F238E27FC236}">
                <a16:creationId xmlns:a16="http://schemas.microsoft.com/office/drawing/2014/main" id="{A7857DFC-A821-4258-ABE6-65D544E0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20" name="085-Status icon">
            <a:extLst xmlns:a="http://schemas.openxmlformats.org/drawingml/2006/main">
              <a:ext uri="{FF2B5EF4-FFF2-40B4-BE49-F238E27FC236}">
                <a16:creationId xmlns:a16="http://schemas.microsoft.com/office/drawing/2014/main" id="{735B07EE-E6D6-4154-B793-EE0A594A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245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086-Status check">
            <a:extLst xmlns:a="http://schemas.openxmlformats.org/drawingml/2006/main">
              <a:ext uri="{FF2B5EF4-FFF2-40B4-BE49-F238E27FC236}">
                <a16:creationId xmlns:a16="http://schemas.microsoft.com/office/drawing/2014/main" id="{D98D43A6-2525-4262-9158-3373DC9E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153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2" name="087-Status label">
            <a:extLst xmlns:a="http://schemas.openxmlformats.org/drawingml/2006/main">
              <a:ext uri="{FF2B5EF4-FFF2-40B4-BE49-F238E27FC236}">
                <a16:creationId xmlns:a16="http://schemas.microsoft.com/office/drawing/2014/main" id="{3CB76E34-A30E-4067-B000-740F6456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1531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Estado:</a:t>
            </a:r>
          </a:p>
        </p:txBody>
      </p:sp>
      <p:sp>
        <p:nvSpPr>
          <p:cNvPr id="23" name="088-Status value">
            <a:extLst xmlns:a="http://schemas.openxmlformats.org/drawingml/2006/main">
              <a:ext uri="{FF2B5EF4-FFF2-40B4-BE49-F238E27FC236}">
                <a16:creationId xmlns:a16="http://schemas.microsoft.com/office/drawing/2014/main" id="{F9F074BC-155B-4B65-B9B1-A52AA594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53150"/>
            <a:ext cx="804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MVP funcional · 15 pruebas · MinIO + MySQL UP</a:t>
            </a:r>
          </a:p>
        </p:txBody>
      </p:sp>
    </p:spTree>
    <p:extLst>
      <p:ext uri="{BB962C8B-B14F-4D97-AF65-F5344CB8AC3E}">
        <p14:creationId xmlns:p14="http://schemas.microsoft.com/office/powerpoint/2010/main" val="11065450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089-Kicker">
            <a:extLst xmlns:a="http://schemas.openxmlformats.org/drawingml/2006/main">
              <a:ext uri="{FF2B5EF4-FFF2-40B4-BE49-F238E27FC236}">
                <a16:creationId xmlns:a16="http://schemas.microsoft.com/office/drawing/2014/main" id="{DABD77F9-D7CB-4CEA-9D9E-BDD58798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MEDICALSYS · SPRINT 2</a:t>
            </a:r>
          </a:p>
        </p:txBody>
      </p:sp>
      <p:sp>
        <p:nvSpPr>
          <p:cNvPr id="2" name="090-Title">
            <a:extLst xmlns:a="http://schemas.openxmlformats.org/drawingml/2006/main">
              <a:ext uri="{FF2B5EF4-FFF2-40B4-BE49-F238E27FC236}">
                <a16:creationId xmlns:a16="http://schemas.microsoft.com/office/drawing/2014/main" id="{B0ED7E53-E682-49CD-BA14-FB2F4626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Del archivo al historial clínico</a:t>
            </a:r>
          </a:p>
        </p:txBody>
      </p:sp>
      <p:sp>
        <p:nvSpPr>
          <p:cNvPr id="3" name="091-Subtitle">
            <a:extLst xmlns:a="http://schemas.openxmlformats.org/drawingml/2006/main">
              <a:ext uri="{FF2B5EF4-FFF2-40B4-BE49-F238E27FC236}">
                <a16:creationId xmlns:a16="http://schemas.microsoft.com/office/drawing/2014/main" id="{2AA3AE0F-CA8C-41C5-8E27-515F4108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8B929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929A"/>
                </a:solidFill>
                <a:latin typeface="Arial"/>
                <a:ea typeface="Arial"/>
                <a:cs typeface="Arial"/>
              </a:rPr>
              <a:t>La carga conecta un estudio con su resultado sin compartir bases.</a:t>
            </a:r>
          </a:p>
        </p:txBody>
      </p:sp>
      <p:sp>
        <p:nvSpPr>
          <p:cNvPr id="4" name="092-Flow node 1">
            <a:extLst xmlns:a="http://schemas.openxmlformats.org/drawingml/2006/main">
              <a:ext uri="{FF2B5EF4-FFF2-40B4-BE49-F238E27FC236}">
                <a16:creationId xmlns:a16="http://schemas.microsoft.com/office/drawing/2014/main" id="{B57FEBF1-E7B6-45AB-9600-49311E68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2383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5" name="093-Flow step 1">
            <a:extLst xmlns:a="http://schemas.openxmlformats.org/drawingml/2006/main">
              <a:ext uri="{FF2B5EF4-FFF2-40B4-BE49-F238E27FC236}">
                <a16:creationId xmlns:a16="http://schemas.microsoft.com/office/drawing/2014/main" id="{939A0EEA-04D4-4E90-8FEB-F04BD9EF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94-Flow step text 1">
            <a:extLst xmlns:a="http://schemas.openxmlformats.org/drawingml/2006/main">
              <a:ext uri="{FF2B5EF4-FFF2-40B4-BE49-F238E27FC236}">
                <a16:creationId xmlns:a16="http://schemas.microsoft.com/office/drawing/2014/main" id="{DD683C0E-7FB5-4336-9890-56D6F454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095-Icon ring ↑">
            <a:extLst xmlns:a="http://schemas.openxmlformats.org/drawingml/2006/main">
              <a:ext uri="{FF2B5EF4-FFF2-40B4-BE49-F238E27FC236}">
                <a16:creationId xmlns:a16="http://schemas.microsoft.com/office/drawing/2014/main" id="{DA5EF4A0-24DD-4CFB-ABA3-F307A8D6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3" y="25241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3E86B8"/>
            </a:solidFill>
            <a:prstDash val="solid"/>
          </a:ln>
        </p:spPr>
      </p:sp>
      <p:sp>
        <p:nvSpPr>
          <p:cNvPr id="8" name="096-Icon ↑">
            <a:extLst xmlns:a="http://schemas.openxmlformats.org/drawingml/2006/main">
              <a:ext uri="{FF2B5EF4-FFF2-40B4-BE49-F238E27FC236}">
                <a16:creationId xmlns:a16="http://schemas.microsoft.com/office/drawing/2014/main" id="{AF3FE4E8-E3D2-4632-B756-19EB6D28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3" y="265747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↑</a:t>
            </a:r>
          </a:p>
        </p:txBody>
      </p:sp>
      <p:sp>
        <p:nvSpPr>
          <p:cNvPr id="9" name="097-Flow title 1">
            <a:extLst xmlns:a="http://schemas.openxmlformats.org/drawingml/2006/main">
              <a:ext uri="{FF2B5EF4-FFF2-40B4-BE49-F238E27FC236}">
                <a16:creationId xmlns:a16="http://schemas.microsoft.com/office/drawing/2014/main" id="{FEE0B1F2-9E03-456F-9280-AA13C786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Cargar</a:t>
            </a:r>
          </a:p>
        </p:txBody>
      </p:sp>
      <p:sp>
        <p:nvSpPr>
          <p:cNvPr id="10" name="098-Flow body 1">
            <a:extLst xmlns:a="http://schemas.openxmlformats.org/drawingml/2006/main">
              <a:ext uri="{FF2B5EF4-FFF2-40B4-BE49-F238E27FC236}">
                <a16:creationId xmlns:a16="http://schemas.microsoft.com/office/drawing/2014/main" id="{FE0381DA-90C4-4072-B55D-8C868571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43325"/>
            <a:ext cx="1895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Recibe archivo, paciente, tipo documental y contexto.</a:t>
            </a:r>
          </a:p>
        </p:txBody>
      </p:sp>
      <p:sp>
        <p:nvSpPr>
          <p:cNvPr id="11" name="099-Arrow 316">
            <a:extLst xmlns:a="http://schemas.openxmlformats.org/drawingml/2006/main">
              <a:ext uri="{FF2B5EF4-FFF2-40B4-BE49-F238E27FC236}">
                <a16:creationId xmlns:a16="http://schemas.microsoft.com/office/drawing/2014/main" id="{C1547921-29D9-49BA-AE0E-A4A20E28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24175"/>
            <a:ext cx="41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100-Flow node 2">
            <a:extLst xmlns:a="http://schemas.openxmlformats.org/drawingml/2006/main">
              <a:ext uri="{FF2B5EF4-FFF2-40B4-BE49-F238E27FC236}">
                <a16:creationId xmlns:a16="http://schemas.microsoft.com/office/drawing/2014/main" id="{7017F26A-D247-429A-8EB4-F81C73CC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33600"/>
            <a:ext cx="22383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13" name="101-Flow step 2">
            <a:extLst xmlns:a="http://schemas.openxmlformats.org/drawingml/2006/main">
              <a:ext uri="{FF2B5EF4-FFF2-40B4-BE49-F238E27FC236}">
                <a16:creationId xmlns:a16="http://schemas.microsoft.com/office/drawing/2014/main" id="{7974FA8F-CE8C-4A5A-8E4A-725572F8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86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102-Flow step text 2">
            <a:extLst xmlns:a="http://schemas.openxmlformats.org/drawingml/2006/main">
              <a:ext uri="{FF2B5EF4-FFF2-40B4-BE49-F238E27FC236}">
                <a16:creationId xmlns:a16="http://schemas.microsoft.com/office/drawing/2014/main" id="{A8EBF859-39CA-4012-B555-4E47B0EF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05050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103-Icon ring #">
            <a:extLst xmlns:a="http://schemas.openxmlformats.org/drawingml/2006/main">
              <a:ext uri="{FF2B5EF4-FFF2-40B4-BE49-F238E27FC236}">
                <a16:creationId xmlns:a16="http://schemas.microsoft.com/office/drawing/2014/main" id="{BCEF64E4-5E02-4E30-9F69-C423A55A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5241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3E86B8"/>
            </a:solidFill>
            <a:prstDash val="solid"/>
          </a:ln>
        </p:spPr>
      </p:sp>
      <p:sp>
        <p:nvSpPr>
          <p:cNvPr id="16" name="104-Icon #">
            <a:extLst xmlns:a="http://schemas.openxmlformats.org/drawingml/2006/main">
              <a:ext uri="{FF2B5EF4-FFF2-40B4-BE49-F238E27FC236}">
                <a16:creationId xmlns:a16="http://schemas.microsoft.com/office/drawing/2014/main" id="{CBE9F50E-2F07-4F40-9647-F887D15C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288" y="265747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#</a:t>
            </a:r>
          </a:p>
        </p:txBody>
      </p:sp>
      <p:sp>
        <p:nvSpPr>
          <p:cNvPr id="17" name="105-Flow title 2">
            <a:extLst xmlns:a="http://schemas.openxmlformats.org/drawingml/2006/main">
              <a:ext uri="{FF2B5EF4-FFF2-40B4-BE49-F238E27FC236}">
                <a16:creationId xmlns:a16="http://schemas.microsoft.com/office/drawing/2014/main" id="{E392748F-9D8D-4817-A355-184F7B73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3718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Verificar</a:t>
            </a:r>
          </a:p>
        </p:txBody>
      </p:sp>
      <p:sp>
        <p:nvSpPr>
          <p:cNvPr id="18" name="106-Flow body 2">
            <a:extLst xmlns:a="http://schemas.openxmlformats.org/drawingml/2006/main">
              <a:ext uri="{FF2B5EF4-FFF2-40B4-BE49-F238E27FC236}">
                <a16:creationId xmlns:a16="http://schemas.microsoft.com/office/drawing/2014/main" id="{0DF717CC-BB60-4F92-844A-C88AF4E1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43325"/>
            <a:ext cx="1895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Calcula SHA-256, tamaño y MIME antes de persistir.</a:t>
            </a:r>
          </a:p>
        </p:txBody>
      </p:sp>
      <p:sp>
        <p:nvSpPr>
          <p:cNvPr id="19" name="107-Arrow 599">
            <a:extLst xmlns:a="http://schemas.openxmlformats.org/drawingml/2006/main">
              <a:ext uri="{FF2B5EF4-FFF2-40B4-BE49-F238E27FC236}">
                <a16:creationId xmlns:a16="http://schemas.microsoft.com/office/drawing/2014/main" id="{97B80E9A-9E71-4DE7-9F4E-61E5499C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924175"/>
            <a:ext cx="41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108-Flow node 3">
            <a:extLst xmlns:a="http://schemas.openxmlformats.org/drawingml/2006/main">
              <a:ext uri="{FF2B5EF4-FFF2-40B4-BE49-F238E27FC236}">
                <a16:creationId xmlns:a16="http://schemas.microsoft.com/office/drawing/2014/main" id="{7A639E78-0BF2-4026-9EF6-A9548177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22383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21" name="109-Flow step 3">
            <a:extLst xmlns:a="http://schemas.openxmlformats.org/drawingml/2006/main">
              <a:ext uri="{FF2B5EF4-FFF2-40B4-BE49-F238E27FC236}">
                <a16:creationId xmlns:a16="http://schemas.microsoft.com/office/drawing/2014/main" id="{3E7FF0FC-E803-4EC6-81D9-4CEBC842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110-Flow step text 3">
            <a:extLst xmlns:a="http://schemas.openxmlformats.org/drawingml/2006/main">
              <a:ext uri="{FF2B5EF4-FFF2-40B4-BE49-F238E27FC236}">
                <a16:creationId xmlns:a16="http://schemas.microsoft.com/office/drawing/2014/main" id="{593F1514-957E-4964-AFDF-F7CD9A05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111-Icon ring DB">
            <a:extLst xmlns:a="http://schemas.openxmlformats.org/drawingml/2006/main">
              <a:ext uri="{FF2B5EF4-FFF2-40B4-BE49-F238E27FC236}">
                <a16:creationId xmlns:a16="http://schemas.microsoft.com/office/drawing/2014/main" id="{84C685A6-F943-40FF-A2C5-4DC72F54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5613" y="25241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3E86B8"/>
            </a:solidFill>
            <a:prstDash val="solid"/>
          </a:ln>
        </p:spPr>
      </p:sp>
      <p:sp>
        <p:nvSpPr>
          <p:cNvPr id="24" name="112-Icon DB">
            <a:extLst xmlns:a="http://schemas.openxmlformats.org/drawingml/2006/main">
              <a:ext uri="{FF2B5EF4-FFF2-40B4-BE49-F238E27FC236}">
                <a16:creationId xmlns:a16="http://schemas.microsoft.com/office/drawing/2014/main" id="{3FA64C9C-4032-4487-B531-3904B08A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65747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DB</a:t>
            </a:r>
          </a:p>
        </p:txBody>
      </p:sp>
      <p:sp>
        <p:nvSpPr>
          <p:cNvPr id="25" name="113-Flow title 3">
            <a:extLst xmlns:a="http://schemas.openxmlformats.org/drawingml/2006/main">
              <a:ext uri="{FF2B5EF4-FFF2-40B4-BE49-F238E27FC236}">
                <a16:creationId xmlns:a16="http://schemas.microsoft.com/office/drawing/2014/main" id="{3FAA91F9-3C89-480E-8E87-3EFEC073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718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Persistir</a:t>
            </a:r>
          </a:p>
        </p:txBody>
      </p:sp>
      <p:sp>
        <p:nvSpPr>
          <p:cNvPr id="26" name="114-Flow body 3">
            <a:extLst xmlns:a="http://schemas.openxmlformats.org/drawingml/2006/main">
              <a:ext uri="{FF2B5EF4-FFF2-40B4-BE49-F238E27FC236}">
                <a16:creationId xmlns:a16="http://schemas.microsoft.com/office/drawing/2014/main" id="{4F77CF4B-26F5-42C4-AD90-9FDB6F3E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43325"/>
            <a:ext cx="1895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Bytes a MinIO; metadatos y vínculos a documents_db.</a:t>
            </a:r>
          </a:p>
        </p:txBody>
      </p:sp>
      <p:sp>
        <p:nvSpPr>
          <p:cNvPr id="27" name="115-Arrow 882">
            <a:extLst xmlns:a="http://schemas.openxmlformats.org/drawingml/2006/main">
              <a:ext uri="{FF2B5EF4-FFF2-40B4-BE49-F238E27FC236}">
                <a16:creationId xmlns:a16="http://schemas.microsoft.com/office/drawing/2014/main" id="{643759A5-74AF-4E6F-B64E-EE69E2ED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24175"/>
            <a:ext cx="41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116-Flow node 4">
            <a:extLst xmlns:a="http://schemas.openxmlformats.org/drawingml/2006/main">
              <a:ext uri="{FF2B5EF4-FFF2-40B4-BE49-F238E27FC236}">
                <a16:creationId xmlns:a16="http://schemas.microsoft.com/office/drawing/2014/main" id="{689956EA-4634-4E1E-951F-034FD8E9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133600"/>
            <a:ext cx="27336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29" name="117-Flow step 4">
            <a:extLst xmlns:a="http://schemas.openxmlformats.org/drawingml/2006/main">
              <a:ext uri="{FF2B5EF4-FFF2-40B4-BE49-F238E27FC236}">
                <a16:creationId xmlns:a16="http://schemas.microsoft.com/office/drawing/2014/main" id="{4E43EC9F-3E1C-46BD-9967-00F47D47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286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118-Flow step text 4">
            <a:extLst xmlns:a="http://schemas.openxmlformats.org/drawingml/2006/main">
              <a:ext uri="{FF2B5EF4-FFF2-40B4-BE49-F238E27FC236}">
                <a16:creationId xmlns:a16="http://schemas.microsoft.com/office/drawing/2014/main" id="{4BB629C5-DB33-459D-9647-B6573058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05050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119-Icon ring API">
            <a:extLst xmlns:a="http://schemas.openxmlformats.org/drawingml/2006/main">
              <a:ext uri="{FF2B5EF4-FFF2-40B4-BE49-F238E27FC236}">
                <a16:creationId xmlns:a16="http://schemas.microsoft.com/office/drawing/2014/main" id="{930DCA50-F226-457D-A0FF-5471C49D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8838" y="25241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3E86B8"/>
            </a:solidFill>
            <a:prstDash val="solid"/>
          </a:ln>
        </p:spPr>
      </p:sp>
      <p:sp>
        <p:nvSpPr>
          <p:cNvPr id="32" name="120-Icon API">
            <a:extLst xmlns:a="http://schemas.openxmlformats.org/drawingml/2006/main">
              <a:ext uri="{FF2B5EF4-FFF2-40B4-BE49-F238E27FC236}">
                <a16:creationId xmlns:a16="http://schemas.microsoft.com/office/drawing/2014/main" id="{5E32EA33-7A70-406F-8CC6-4957714E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088" y="265747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33" name="121-Flow title 4">
            <a:extLst xmlns:a="http://schemas.openxmlformats.org/drawingml/2006/main">
              <a:ext uri="{FF2B5EF4-FFF2-40B4-BE49-F238E27FC236}">
                <a16:creationId xmlns:a16="http://schemas.microsoft.com/office/drawing/2014/main" id="{DB36D229-9812-4E09-9D74-ECEAC699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3718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Vincular</a:t>
            </a:r>
          </a:p>
        </p:txBody>
      </p:sp>
      <p:sp>
        <p:nvSpPr>
          <p:cNvPr id="34" name="122-Flow body 4">
            <a:extLst xmlns:a="http://schemas.openxmlformats.org/drawingml/2006/main">
              <a:ext uri="{FF2B5EF4-FFF2-40B4-BE49-F238E27FC236}">
                <a16:creationId xmlns:a16="http://schemas.microsoft.com/office/drawing/2014/main" id="{C2F69F44-A058-4702-8153-8EFFC152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743325"/>
            <a:ext cx="2390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El historial consulta la referencia y descarga por la API.</a:t>
            </a:r>
          </a:p>
        </p:txBody>
      </p:sp>
      <p:sp>
        <p:nvSpPr>
          <p:cNvPr id="35" name="123-Proof band">
            <a:extLst xmlns:a="http://schemas.openxmlformats.org/drawingml/2006/main">
              <a:ext uri="{FF2B5EF4-FFF2-40B4-BE49-F238E27FC236}">
                <a16:creationId xmlns:a16="http://schemas.microsoft.com/office/drawing/2014/main" id="{3299E582-0FF1-4FBF-9159-86B0F671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962025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0F6FD"/>
          </a:solidFill>
          <a:ln xmlns:a="http://schemas.openxmlformats.org/drawingml/2006/main" w="14288">
            <a:solidFill>
              <a:srgbClr val="3E86B8"/>
            </a:solidFill>
            <a:prstDash val="solid"/>
          </a:ln>
        </p:spPr>
      </p:sp>
      <p:sp>
        <p:nvSpPr>
          <p:cNvPr id="36" name="124-Proof icon">
            <a:extLst xmlns:a="http://schemas.openxmlformats.org/drawingml/2006/main">
              <a:ext uri="{FF2B5EF4-FFF2-40B4-BE49-F238E27FC236}">
                <a16:creationId xmlns:a16="http://schemas.microsoft.com/office/drawing/2014/main" id="{5A015268-A219-4134-8562-9FFDB6C2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529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9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125-Proof check">
            <a:extLst xmlns:a="http://schemas.openxmlformats.org/drawingml/2006/main">
              <a:ext uri="{FF2B5EF4-FFF2-40B4-BE49-F238E27FC236}">
                <a16:creationId xmlns:a16="http://schemas.microsoft.com/office/drawing/2014/main" id="{794BF114-7877-4EAE-A1EA-E2550396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00600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8" name="126-Proof label">
            <a:extLst xmlns:a="http://schemas.openxmlformats.org/drawingml/2006/main">
              <a:ext uri="{FF2B5EF4-FFF2-40B4-BE49-F238E27FC236}">
                <a16:creationId xmlns:a16="http://schemas.microsoft.com/office/drawing/2014/main" id="{D7FA6F39-AFFE-47FC-8D21-FDBF9163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7148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PRUEBA REAL</a:t>
            </a:r>
          </a:p>
        </p:txBody>
      </p:sp>
      <p:sp>
        <p:nvSpPr>
          <p:cNvPr id="39" name="127-Proof data">
            <a:extLst xmlns:a="http://schemas.openxmlformats.org/drawingml/2006/main">
              <a:ext uri="{FF2B5EF4-FFF2-40B4-BE49-F238E27FC236}">
                <a16:creationId xmlns:a16="http://schemas.microsoft.com/office/drawing/2014/main" id="{2742E438-D179-4B19-89FC-B9AD13AE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01015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141 B · mismo SHA-256 · 1 objeto · 3 vínculos</a:t>
            </a:r>
          </a:p>
        </p:txBody>
      </p:sp>
      <p:sp>
        <p:nvSpPr>
          <p:cNvPr id="40" name="128-Status band">
            <a:extLst xmlns:a="http://schemas.openxmlformats.org/drawingml/2006/main">
              <a:ext uri="{FF2B5EF4-FFF2-40B4-BE49-F238E27FC236}">
                <a16:creationId xmlns:a16="http://schemas.microsoft.com/office/drawing/2014/main" id="{9DD8C8A7-4F13-4ECC-B8EF-FBAF2A6F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41" name="129-Status icon">
            <a:extLst xmlns:a="http://schemas.openxmlformats.org/drawingml/2006/main">
              <a:ext uri="{FF2B5EF4-FFF2-40B4-BE49-F238E27FC236}">
                <a16:creationId xmlns:a16="http://schemas.microsoft.com/office/drawing/2014/main" id="{0644703E-E079-4FAF-A586-332AC55E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0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130-Status check">
            <a:extLst xmlns:a="http://schemas.openxmlformats.org/drawingml/2006/main">
              <a:ext uri="{FF2B5EF4-FFF2-40B4-BE49-F238E27FC236}">
                <a16:creationId xmlns:a16="http://schemas.microsoft.com/office/drawing/2014/main" id="{1B25557A-58E8-459A-940E-E0424E37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9340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3" name="131-Status label">
            <a:extLst xmlns:a="http://schemas.openxmlformats.org/drawingml/2006/main">
              <a:ext uri="{FF2B5EF4-FFF2-40B4-BE49-F238E27FC236}">
                <a16:creationId xmlns:a16="http://schemas.microsoft.com/office/drawing/2014/main" id="{345517C4-4AE9-499C-8788-EBB41FA2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9340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Resultado:</a:t>
            </a:r>
          </a:p>
        </p:txBody>
      </p:sp>
      <p:sp>
        <p:nvSpPr>
          <p:cNvPr id="44" name="132-Status value">
            <a:extLst xmlns:a="http://schemas.openxmlformats.org/drawingml/2006/main">
              <a:ext uri="{FF2B5EF4-FFF2-40B4-BE49-F238E27FC236}">
                <a16:creationId xmlns:a16="http://schemas.microsoft.com/office/drawing/2014/main" id="{1B2B4A0E-D333-49BA-BC1B-B7DC5DF8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34075"/>
            <a:ext cx="804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descarga verificada y consulta disponible por gateway</a:t>
            </a:r>
          </a:p>
        </p:txBody>
      </p:sp>
    </p:spTree>
    <p:extLst>
      <p:ext uri="{BB962C8B-B14F-4D97-AF65-F5344CB8AC3E}">
        <p14:creationId xmlns:p14="http://schemas.microsoft.com/office/powerpoint/2010/main" val="7948459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133-Kicker">
            <a:extLst xmlns:a="http://schemas.openxmlformats.org/drawingml/2006/main">
              <a:ext uri="{FF2B5EF4-FFF2-40B4-BE49-F238E27FC236}">
                <a16:creationId xmlns:a16="http://schemas.microsoft.com/office/drawing/2014/main" id="{DBDC4314-AEC0-4415-97D1-EF7F2585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MEDICALSYS · SPRINT 2</a:t>
            </a:r>
          </a:p>
        </p:txBody>
      </p:sp>
      <p:sp>
        <p:nvSpPr>
          <p:cNvPr id="2" name="134-Title">
            <a:extLst xmlns:a="http://schemas.openxmlformats.org/drawingml/2006/main">
              <a:ext uri="{FF2B5EF4-FFF2-40B4-BE49-F238E27FC236}">
                <a16:creationId xmlns:a16="http://schemas.microsoft.com/office/drawing/2014/main" id="{4B17B4F4-458E-4090-BB2E-DD5143C0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API Gateway</a:t>
            </a:r>
          </a:p>
        </p:txBody>
      </p:sp>
      <p:sp>
        <p:nvSpPr>
          <p:cNvPr id="3" name="135-Subtitle">
            <a:extLst xmlns:a="http://schemas.openxmlformats.org/drawingml/2006/main">
              <a:ext uri="{FF2B5EF4-FFF2-40B4-BE49-F238E27FC236}">
                <a16:creationId xmlns:a16="http://schemas.microsoft.com/office/drawing/2014/main" id="{B7B1A1D7-F879-4F0F-ADB4-21416FC7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8B92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B929A"/>
                </a:solidFill>
                <a:latin typeface="Arial"/>
                <a:ea typeface="Arial"/>
                <a:cs typeface="Arial"/>
              </a:rPr>
              <a:t>Un único punto de entrada enruta hacia cada microservicio.</a:t>
            </a:r>
          </a:p>
        </p:txBody>
      </p:sp>
      <p:sp>
        <p:nvSpPr>
          <p:cNvPr id="4" name="136-Client box">
            <a:extLst xmlns:a="http://schemas.openxmlformats.org/drawingml/2006/main">
              <a:ext uri="{FF2B5EF4-FFF2-40B4-BE49-F238E27FC236}">
                <a16:creationId xmlns:a16="http://schemas.microsoft.com/office/drawing/2014/main" id="{E7D93CAB-9BF2-421C-9566-01E08B18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000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5" name="137-Icon ring UI">
            <a:extLst xmlns:a="http://schemas.openxmlformats.org/drawingml/2006/main">
              <a:ext uri="{FF2B5EF4-FFF2-40B4-BE49-F238E27FC236}">
                <a16:creationId xmlns:a16="http://schemas.microsoft.com/office/drawing/2014/main" id="{B0BF074B-A813-4B47-8129-49A38730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622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3E86B8"/>
            </a:solidFill>
            <a:prstDash val="solid"/>
          </a:ln>
        </p:spPr>
      </p:sp>
      <p:sp>
        <p:nvSpPr>
          <p:cNvPr id="6" name="138-Icon UI">
            <a:extLst xmlns:a="http://schemas.openxmlformats.org/drawingml/2006/main">
              <a:ext uri="{FF2B5EF4-FFF2-40B4-BE49-F238E27FC236}">
                <a16:creationId xmlns:a16="http://schemas.microsoft.com/office/drawing/2014/main" id="{988CD1DF-96E2-43D7-97C9-D5200811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9560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UI</a:t>
            </a:r>
          </a:p>
        </p:txBody>
      </p:sp>
      <p:sp>
        <p:nvSpPr>
          <p:cNvPr id="7" name="139-Client label">
            <a:extLst xmlns:a="http://schemas.openxmlformats.org/drawingml/2006/main">
              <a:ext uri="{FF2B5EF4-FFF2-40B4-BE49-F238E27FC236}">
                <a16:creationId xmlns:a16="http://schemas.microsoft.com/office/drawing/2014/main" id="{CDF3A135-000B-450D-A426-6E0C14CF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8" name="140-Arrow 306">
            <a:extLst xmlns:a="http://schemas.openxmlformats.org/drawingml/2006/main">
              <a:ext uri="{FF2B5EF4-FFF2-40B4-BE49-F238E27FC236}">
                <a16:creationId xmlns:a16="http://schemas.microsoft.com/office/drawing/2014/main" id="{30A93FA4-D5E7-4B90-AA5A-29D69D3E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76575"/>
            <a:ext cx="41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141-Gateway box">
            <a:extLst xmlns:a="http://schemas.openxmlformats.org/drawingml/2006/main">
              <a:ext uri="{FF2B5EF4-FFF2-40B4-BE49-F238E27FC236}">
                <a16:creationId xmlns:a16="http://schemas.microsoft.com/office/drawing/2014/main" id="{912A119E-5868-435E-B3D1-F74F5453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762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24765">
            <a:solidFill>
              <a:srgbClr val="2D73AA"/>
            </a:solidFill>
            <a:prstDash val="solid"/>
          </a:ln>
        </p:spPr>
      </p:sp>
      <p:sp>
        <p:nvSpPr>
          <p:cNvPr id="10" name="142-Icon ring GW">
            <a:extLst xmlns:a="http://schemas.openxmlformats.org/drawingml/2006/main">
              <a:ext uri="{FF2B5EF4-FFF2-40B4-BE49-F238E27FC236}">
                <a16:creationId xmlns:a16="http://schemas.microsoft.com/office/drawing/2014/main" id="{957E3324-08EE-4DEF-8C0A-EEBF8507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860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D73AA"/>
            </a:solidFill>
            <a:prstDash val="solid"/>
          </a:ln>
        </p:spPr>
      </p:sp>
      <p:sp>
        <p:nvSpPr>
          <p:cNvPr id="11" name="143-Icon GW">
            <a:extLst xmlns:a="http://schemas.openxmlformats.org/drawingml/2006/main">
              <a:ext uri="{FF2B5EF4-FFF2-40B4-BE49-F238E27FC236}">
                <a16:creationId xmlns:a16="http://schemas.microsoft.com/office/drawing/2014/main" id="{14AE5C5B-9B48-4918-9535-C56B99DD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1937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GW</a:t>
            </a:r>
          </a:p>
        </p:txBody>
      </p:sp>
      <p:sp>
        <p:nvSpPr>
          <p:cNvPr id="12" name="144-Gateway label">
            <a:extLst xmlns:a="http://schemas.openxmlformats.org/drawingml/2006/main">
              <a:ext uri="{FF2B5EF4-FFF2-40B4-BE49-F238E27FC236}">
                <a16:creationId xmlns:a16="http://schemas.microsoft.com/office/drawing/2014/main" id="{1FBA5A99-6D68-4838-90FF-EB10CF88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909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Gateway :18080</a:t>
            </a:r>
          </a:p>
        </p:txBody>
      </p:sp>
      <p:sp>
        <p:nvSpPr>
          <p:cNvPr id="13" name="145-Gateway description">
            <a:extLst xmlns:a="http://schemas.openxmlformats.org/drawingml/2006/main">
              <a:ext uri="{FF2B5EF4-FFF2-40B4-BE49-F238E27FC236}">
                <a16:creationId xmlns:a16="http://schemas.microsoft.com/office/drawing/2014/main" id="{5BA77D0D-8442-4464-891A-FFF40276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100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8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Reconoce el path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8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y localiza el contenedor</a:t>
            </a:r>
          </a:p>
        </p:txBody>
      </p:sp>
      <p:sp>
        <p:nvSpPr>
          <p:cNvPr id="14" name="146-Arrow 675">
            <a:extLst xmlns:a="http://schemas.openxmlformats.org/drawingml/2006/main">
              <a:ext uri="{FF2B5EF4-FFF2-40B4-BE49-F238E27FC236}">
                <a16:creationId xmlns:a16="http://schemas.microsoft.com/office/drawing/2014/main" id="{D29E64CB-46E2-4422-8458-0CC21D5C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76575"/>
            <a:ext cx="419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147-Routes panel">
            <a:extLst xmlns:a="http://schemas.openxmlformats.org/drawingml/2006/main">
              <a:ext uri="{FF2B5EF4-FFF2-40B4-BE49-F238E27FC236}">
                <a16:creationId xmlns:a16="http://schemas.microsoft.com/office/drawing/2014/main" id="{528D2B03-5066-472A-BE33-97738FF2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95500"/>
            <a:ext cx="4486275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6FD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16" name="148-Routes title">
            <a:extLst xmlns:a="http://schemas.openxmlformats.org/drawingml/2006/main">
              <a:ext uri="{FF2B5EF4-FFF2-40B4-BE49-F238E27FC236}">
                <a16:creationId xmlns:a16="http://schemas.microsoft.com/office/drawing/2014/main" id="{928CF451-F8B2-4A15-A733-240CA148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05050"/>
            <a:ext cx="3724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D73A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73AA"/>
                </a:solidFill>
                <a:latin typeface="Arial"/>
                <a:ea typeface="Arial"/>
                <a:cs typeface="Arial"/>
              </a:rPr>
              <a:t>RUTAS DEL MVP</a:t>
            </a:r>
          </a:p>
        </p:txBody>
      </p:sp>
      <p:sp>
        <p:nvSpPr>
          <p:cNvPr id="17" name="149-Patient route">
            <a:extLst xmlns:a="http://schemas.openxmlformats.org/drawingml/2006/main">
              <a:ext uri="{FF2B5EF4-FFF2-40B4-BE49-F238E27FC236}">
                <a16:creationId xmlns:a16="http://schemas.microsoft.com/office/drawing/2014/main" id="{4334A601-874B-4ECC-AAC5-41C6E087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63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/api/v1/patients/**  →  ms-pacientes</a:t>
            </a:r>
          </a:p>
        </p:txBody>
      </p:sp>
      <p:sp>
        <p:nvSpPr>
          <p:cNvPr id="18" name="150-Document route">
            <a:extLst xmlns:a="http://schemas.openxmlformats.org/drawingml/2006/main">
              <a:ext uri="{FF2B5EF4-FFF2-40B4-BE49-F238E27FC236}">
                <a16:creationId xmlns:a16="http://schemas.microsoft.com/office/drawing/2014/main" id="{060505B2-1595-47FC-A43F-6DF5FA16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63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/api/v1/documents/**  →  ms-documental</a:t>
            </a:r>
          </a:p>
        </p:txBody>
      </p:sp>
      <p:sp>
        <p:nvSpPr>
          <p:cNvPr id="19" name="151-Other route">
            <a:extLst xmlns:a="http://schemas.openxmlformats.org/drawingml/2006/main">
              <a:ext uri="{FF2B5EF4-FFF2-40B4-BE49-F238E27FC236}">
                <a16:creationId xmlns:a16="http://schemas.microsoft.com/office/drawing/2014/main" id="{3C238F2F-6412-43F2-B95E-12CE12FF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8620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63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63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otros paths  →  servicios del compose</a:t>
            </a:r>
          </a:p>
        </p:txBody>
      </p:sp>
      <p:sp>
        <p:nvSpPr>
          <p:cNvPr id="20" name="152-Principles strip">
            <a:extLst xmlns:a="http://schemas.openxmlformats.org/drawingml/2006/main">
              <a:ext uri="{FF2B5EF4-FFF2-40B4-BE49-F238E27FC236}">
                <a16:creationId xmlns:a16="http://schemas.microsoft.com/office/drawing/2014/main" id="{02D2443F-7FE7-484F-9C6E-DC5DAE37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62525"/>
            <a:ext cx="10782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3E86B8"/>
            </a:solidFill>
            <a:prstDash val="solid"/>
          </a:ln>
        </p:spPr>
      </p:sp>
      <p:sp>
        <p:nvSpPr>
          <p:cNvPr id="21" name="153-Principle 1">
            <a:extLst xmlns:a="http://schemas.openxmlformats.org/drawingml/2006/main">
              <a:ext uri="{FF2B5EF4-FFF2-40B4-BE49-F238E27FC236}">
                <a16:creationId xmlns:a16="http://schemas.microsoft.com/office/drawing/2014/main" id="{8CAF4136-2534-466B-ACBA-2BD8C9F6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149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① Enrutamiento por path</a:t>
            </a:r>
          </a:p>
        </p:txBody>
      </p:sp>
      <p:sp>
        <p:nvSpPr>
          <p:cNvPr id="22" name="154-Principle 2">
            <a:extLst xmlns:a="http://schemas.openxmlformats.org/drawingml/2006/main">
              <a:ext uri="{FF2B5EF4-FFF2-40B4-BE49-F238E27FC236}">
                <a16:creationId xmlns:a16="http://schemas.microsoft.com/office/drawing/2014/main" id="{B72B414A-6D83-4E9C-AF95-462E3AC0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149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② Nombres Docker internos</a:t>
            </a:r>
          </a:p>
        </p:txBody>
      </p:sp>
      <p:sp>
        <p:nvSpPr>
          <p:cNvPr id="23" name="155-Principle 3">
            <a:extLst xmlns:a="http://schemas.openxmlformats.org/drawingml/2006/main">
              <a:ext uri="{FF2B5EF4-FFF2-40B4-BE49-F238E27FC236}">
                <a16:creationId xmlns:a16="http://schemas.microsoft.com/office/drawing/2014/main" id="{439EEFBF-0533-4C24-91A6-F95BCB5F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149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③ Identidad y correlación</a:t>
            </a:r>
          </a:p>
        </p:txBody>
      </p:sp>
      <p:sp>
        <p:nvSpPr>
          <p:cNvPr id="24" name="156-Status band">
            <a:extLst xmlns:a="http://schemas.openxmlformats.org/drawingml/2006/main">
              <a:ext uri="{FF2B5EF4-FFF2-40B4-BE49-F238E27FC236}">
                <a16:creationId xmlns:a16="http://schemas.microsoft.com/office/drawing/2014/main" id="{A262A81F-E8B5-4073-B081-184AF746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7145">
            <a:solidFill>
              <a:srgbClr val="3E86B8"/>
            </a:solidFill>
            <a:prstDash val="solid"/>
          </a:ln>
        </p:spPr>
      </p:sp>
      <p:sp>
        <p:nvSpPr>
          <p:cNvPr id="25" name="157-Status icon">
            <a:extLst xmlns:a="http://schemas.openxmlformats.org/drawingml/2006/main">
              <a:ext uri="{FF2B5EF4-FFF2-40B4-BE49-F238E27FC236}">
                <a16:creationId xmlns:a16="http://schemas.microsoft.com/office/drawing/2014/main" id="{92D4CD5E-954D-4A00-8994-74B76810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245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158-Status check">
            <a:extLst xmlns:a="http://schemas.openxmlformats.org/drawingml/2006/main">
              <a:ext uri="{FF2B5EF4-FFF2-40B4-BE49-F238E27FC236}">
                <a16:creationId xmlns:a16="http://schemas.microsoft.com/office/drawing/2014/main" id="{E80830AA-F73B-44C6-B767-38A5ED4E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153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" name="159-Status label">
            <a:extLst xmlns:a="http://schemas.openxmlformats.org/drawingml/2006/main">
              <a:ext uri="{FF2B5EF4-FFF2-40B4-BE49-F238E27FC236}">
                <a16:creationId xmlns:a16="http://schemas.microsoft.com/office/drawing/2014/main" id="{7E8AE163-4EA2-48D0-8088-190ED4B9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1531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Verificado:</a:t>
            </a:r>
          </a:p>
        </p:txBody>
      </p:sp>
      <p:sp>
        <p:nvSpPr>
          <p:cNvPr id="28" name="160-Status value">
            <a:extLst xmlns:a="http://schemas.openxmlformats.org/drawingml/2006/main">
              <a:ext uri="{FF2B5EF4-FFF2-40B4-BE49-F238E27FC236}">
                <a16:creationId xmlns:a16="http://schemas.microsoft.com/office/drawing/2014/main" id="{FD28CEBA-0FDA-440E-AD33-C7FDA904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53150"/>
            <a:ext cx="804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pacientes y documentos responden correctamente por el gateway</a:t>
            </a:r>
          </a:p>
        </p:txBody>
      </p:sp>
    </p:spTree>
    <p:extLst>
      <p:ext uri="{BB962C8B-B14F-4D97-AF65-F5344CB8AC3E}">
        <p14:creationId xmlns:p14="http://schemas.microsoft.com/office/powerpoint/2010/main" val="521736930"/>
      </p:ext>
    </p:extLst>
  </p:cSld>
</p:sld>
</file>

<file path=ppt/theme/theme1.xml><?xml version="1.0" encoding="utf-8"?>
<a:theme xmlns:a="http://schemas.openxmlformats.org/drawingml/2006/main" name="ChatGPT">
  <a:themeElements>
    <a:clrScheme name="MedicalSys">
      <a:dk1>
        <a:srgbClr val="000000"/>
      </a:dk1>
      <a:lt1>
        <a:srgbClr val="FFFFFF"/>
      </a:lt1>
      <a:dk2>
        <a:srgbClr val="111318"/>
      </a:dk2>
      <a:lt2>
        <a:srgbClr val="EAF3FF"/>
      </a:lt2>
      <a:accent1>
        <a:srgbClr val="3E86B8"/>
      </a:accent1>
      <a:accent2>
        <a:srgbClr val="2D73AA"/>
      </a:accent2>
      <a:accent3>
        <a:srgbClr val="2B9B74"/>
      </a:accent3>
      <a:accent4>
        <a:srgbClr val="D95C5C"/>
      </a:accent4>
      <a:accent5>
        <a:srgbClr val="8A63D2"/>
      </a:accent5>
      <a:accent6>
        <a:srgbClr val="D99A3E"/>
      </a:accent6>
      <a:hlink>
        <a:srgbClr val="2D73AA"/>
      </a:hlink>
      <a:folHlink>
        <a:srgbClr val="8A63D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edicalSy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2026-08-25T23:35:11.0700000Z</dcterms:created>
  <dcterms:modified xsi:type="dcterms:W3CDTF">2026-08-25T23:35:11.0700000Z</dcterms:modified>
</coreProperties>
</file>